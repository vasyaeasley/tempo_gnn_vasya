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D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2D52"/>
                </a:solidFill>
              </a:rPr>
              <a:t>Predicting Air Quality
Using Satellites &amp;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02336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1A2D52"/>
                </a:solidFill>
              </a:rPr>
              <a:t>A plain-English walkthrough of the
GraphMamba NO₂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64592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What this deck covers: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286000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6EAF8"/>
                </a:solidFill>
              </a:rPr>
              <a:t>🌍  Why we care about NO₂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944368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6EAF8"/>
                </a:solidFill>
              </a:rPr>
              <a:t>🛰   Where the data comes from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3602736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6EAF8"/>
                </a:solidFill>
              </a:rPr>
              <a:t>🗺   How we build the 'map' of sensors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4261104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6EAF8"/>
                </a:solidFill>
              </a:rPr>
              <a:t>🧠  How the AI learns from the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4919472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6EAF8"/>
                </a:solidFill>
              </a:rPr>
              <a:t>📊  What the model predicts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5577840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6EAF8"/>
                </a:solidFill>
              </a:rPr>
              <a:t>⚙️   Key numbers &amp; settings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309360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0A0B0"/>
                </a:solidFill>
              </a:rPr>
              <a:t>Audience: no prior ML knowledge needed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D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Why Do We Care About NO₂?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97280"/>
            <a:ext cx="5669280" cy="2148840"/>
          </a:xfrm>
          <a:prstGeom prst="rect">
            <a:avLst/>
          </a:prstGeom>
          <a:solidFill>
            <a:srgbClr val="1E3A5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</a:rPr>
              <a:t>🏭  What is NO₂?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9164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6EAF8"/>
                </a:solidFill>
              </a:rPr>
              <a:t>Nitrogen dioxide — a pollutant released by cars,
power plants, and factories.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097280"/>
            <a:ext cx="5669280" cy="2148840"/>
          </a:xfrm>
          <a:prstGeom prst="rect">
            <a:avLst/>
          </a:prstGeom>
          <a:solidFill>
            <a:srgbClr val="1E3A5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</a:rPr>
              <a:t>❤️  Health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69164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6EAF8"/>
                </a:solidFill>
              </a:rPr>
              <a:t>Causes lung disease, aggravates asthma,
and can be fatal at high concentrations.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474720"/>
            <a:ext cx="5669280" cy="2148840"/>
          </a:xfrm>
          <a:prstGeom prst="rect">
            <a:avLst/>
          </a:prstGeom>
          <a:solidFill>
            <a:srgbClr val="1E3A5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3566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</a:rPr>
              <a:t>📡  Why Satellites?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069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6EAF8"/>
                </a:solidFill>
              </a:rPr>
              <a:t>Ground sensors are sparse. NASA's TEMPO satellite
covers North America hourly from space.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474720"/>
            <a:ext cx="5669280" cy="2148840"/>
          </a:xfrm>
          <a:prstGeom prst="rect">
            <a:avLst/>
          </a:prstGeom>
          <a:solidFill>
            <a:srgbClr val="1E3A5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566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</a:rPr>
              <a:t>🎯  Our Goal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069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6EAF8"/>
                </a:solidFill>
              </a:rPr>
              <a:t>Combine satellite images with ~1,000 ground sensors
to predict NO₂ at every sensor location.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D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Two Data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5303520" cy="5212080"/>
          </a:xfrm>
          <a:prstGeom prst="rect">
            <a:avLst/>
          </a:prstGeom>
          <a:solidFill>
            <a:srgbClr val="1E3A5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D8"/>
                </a:solidFill>
              </a:rPr>
              <a:t>🛰   TEMPO Satellite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AF8"/>
                </a:solidFill>
              </a:rPr>
              <a:t>• NASA satellite launched 2023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85416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AF8"/>
                </a:solidFill>
              </a:rPr>
              <a:t>• Measures NO₂ column from 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8775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AF8"/>
                </a:solidFill>
              </a:rPr>
              <a:t>• Covers North America ~hourly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90088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AF8"/>
                </a:solidFill>
              </a:rPr>
              <a:t>• Files: TEMPO_NO2_L3_V03_*.nc4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392424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AF8"/>
                </a:solidFill>
              </a:rPr>
              <a:t>• Variable used: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79476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AF8"/>
                </a:solidFill>
              </a:rPr>
              <a:t>     product/vertical_column_troposphere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197096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AF8"/>
                </a:solidFill>
              </a:rPr>
              <a:t>• Quality filters applied: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59943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AF8"/>
                </a:solidFill>
              </a:rPr>
              <a:t>     – main_data_quality_flag =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001768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AF8"/>
                </a:solidFill>
              </a:rPr>
              <a:t>     – cloud fraction ≤ 20 %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404104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AF8"/>
                </a:solidFill>
              </a:rPr>
              <a:t>• Training data: Jul 2023 – Jun 2024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097280"/>
            <a:ext cx="5486400" cy="5212080"/>
          </a:xfrm>
          <a:prstGeom prst="rect">
            <a:avLst/>
          </a:prstGeom>
          <a:solidFill>
            <a:srgbClr val="1E3A5F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2344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8C00"/>
                </a:solidFill>
              </a:rPr>
              <a:t>📍  AirNow Ground Stations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78308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AF8"/>
                </a:solidFill>
              </a:rPr>
              <a:t>• ~1,000 EPA monitoring stations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1854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AF8"/>
                </a:solidFill>
              </a:rPr>
              <a:t>• Measure actual NO₂ in ppb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58775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AF8"/>
                </a:solidFill>
              </a:rPr>
              <a:t>• Files: airnow_no2_YYYYMMDD.nc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99008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AF8"/>
                </a:solidFill>
              </a:rPr>
              <a:t>• Provide the 'ground truth' labels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39242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AF8"/>
                </a:solidFill>
              </a:rPr>
              <a:t>  the model learns to predict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79476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AF8"/>
                </a:solidFill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19709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AF8"/>
                </a:solidFill>
              </a:rPr>
              <a:t>• Stations have lat / lon coordinates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59943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AF8"/>
                </a:solidFill>
              </a:rPr>
              <a:t>• Each station is one node in our graph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500176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AF8"/>
                </a:solidFill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540410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AF8"/>
                </a:solidFill>
              </a:rPr>
              <a:t>• Inference data: Jul – Sep 2024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D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Building the Map (Graph)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D6EAF8"/>
                </a:solidFill>
              </a:rPr>
              <a:t>Think of this as drawing a network of connections between sensors and satellite pixels.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600200"/>
            <a:ext cx="3749039" cy="2286000"/>
          </a:xfrm>
          <a:prstGeom prst="rect">
            <a:avLst/>
          </a:prstGeom>
          <a:solidFill>
            <a:srgbClr val="122946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7335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Place AirNow nodes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34747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AF8"/>
                </a:solidFill>
              </a:rPr>
              <a:t>Every ground sensor becomes a dot on the map.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79" y="1600200"/>
            <a:ext cx="3749039" cy="2286000"/>
          </a:xfrm>
          <a:prstGeom prst="rect">
            <a:avLst/>
          </a:prstGeom>
          <a:solidFill>
            <a:srgbClr val="122946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67335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965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Select satellite pixels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377440"/>
            <a:ext cx="34747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AF8"/>
                </a:solidFill>
              </a:rPr>
              <a:t>For each sensor, find the 5 nearest TEMPO pixels. Only those pixels enter the model.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75319" y="1600200"/>
            <a:ext cx="3749039" cy="2286000"/>
          </a:xfrm>
          <a:prstGeom prst="rect">
            <a:avLst/>
          </a:prstGeom>
          <a:solidFill>
            <a:srgbClr val="122946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67335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Step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965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Draw connections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377440"/>
            <a:ext cx="34747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AF8"/>
                </a:solidFill>
              </a:rPr>
              <a:t>Connect each sensor ↔ its 5 satellite pixels.
Connect nearby sensors together (5 nearest neighbours).
Connect nearby satellite pixels together (4 nearest neighbours).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069080"/>
            <a:ext cx="3749039" cy="2286000"/>
          </a:xfrm>
          <a:prstGeom prst="rect">
            <a:avLst/>
          </a:prstGeom>
          <a:solidFill>
            <a:srgbClr val="122946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14223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Step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4348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Normalise the graph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846320"/>
            <a:ext cx="34747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AF8"/>
                </a:solidFill>
              </a:rPr>
              <a:t>Scale connection strengths so busier nodes don't dominate. Stored as a sparse matrix.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79" y="4069080"/>
            <a:ext cx="3749039" cy="2286000"/>
          </a:xfrm>
          <a:prstGeom prst="rect">
            <a:avLst/>
          </a:prstGeom>
          <a:solidFill>
            <a:srgbClr val="122946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414223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Step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4348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Hilbert ordering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846320"/>
            <a:ext cx="34747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AF8"/>
                </a:solidFill>
              </a:rPr>
              <a:t>Nodes are sorted along a space-filling curve so the AI can scan them in a meaningful spatial order.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D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What the AI Sees — 6 Input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D6EAF8"/>
                </a:solidFill>
              </a:rPr>
              <a:t>At each point in time, every node in the graph is described by exactly 6 numbers: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463040"/>
            <a:ext cx="3703320" cy="2240280"/>
          </a:xfrm>
          <a:prstGeom prst="rect">
            <a:avLst/>
          </a:prstGeom>
          <a:solidFill>
            <a:srgbClr val="1E3A5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361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</a:rPr>
              <a:t>Feature #0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4708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Satellite NO₂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67712"/>
            <a:ext cx="3383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AF8"/>
                </a:solidFill>
              </a:rPr>
              <a:t>TEMPO reading, scaled between 0–1.
(0 for ground sensors — they don't see the satellite)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463040"/>
            <a:ext cx="3703320" cy="2240280"/>
          </a:xfrm>
          <a:prstGeom prst="rect">
            <a:avLst/>
          </a:prstGeom>
          <a:solidFill>
            <a:srgbClr val="1E3A5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5361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</a:rPr>
              <a:t>Feature #1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84708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Data quality flag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267712"/>
            <a:ext cx="3383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AF8"/>
                </a:solidFill>
              </a:rPr>
              <a:t>1 = the pixel passed cloud &amp; quality checks.
0 = cloudy or bad data.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0" y="1463040"/>
            <a:ext cx="3703320" cy="2240280"/>
          </a:xfrm>
          <a:prstGeom prst="rect">
            <a:avLst/>
          </a:prstGeom>
          <a:solidFill>
            <a:srgbClr val="1E3A5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5361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</a:rPr>
              <a:t>Feature #2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184708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Node 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267712"/>
            <a:ext cx="3383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AF8"/>
                </a:solidFill>
              </a:rPr>
              <a:t>1 = ground sensor
0 = satellite pixel
Tells the AI which kind of node it is.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886200"/>
            <a:ext cx="3703320" cy="2240280"/>
          </a:xfrm>
          <a:prstGeom prst="rect">
            <a:avLst/>
          </a:prstGeom>
          <a:solidFill>
            <a:srgbClr val="1E3A5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95935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</a:rPr>
              <a:t>Feature #3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27024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Latitude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690872"/>
            <a:ext cx="3383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AF8"/>
                </a:solidFill>
              </a:rPr>
              <a:t>Normalised north–south position
(centred on ~40 °N / continental US)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60520" y="3886200"/>
            <a:ext cx="3703320" cy="2240280"/>
          </a:xfrm>
          <a:prstGeom prst="rect">
            <a:avLst/>
          </a:prstGeom>
          <a:solidFill>
            <a:srgbClr val="1E3A5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395935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</a:rPr>
              <a:t>Feature #4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27024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Longitude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690872"/>
            <a:ext cx="3383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AF8"/>
                </a:solidFill>
              </a:rPr>
              <a:t>Normalised east–west position
(centred on ~100 °W)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1000" y="3886200"/>
            <a:ext cx="3703320" cy="2240280"/>
          </a:xfrm>
          <a:prstGeom prst="rect">
            <a:avLst/>
          </a:prstGeom>
          <a:solidFill>
            <a:srgbClr val="1E3A5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0" y="395935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</a:rPr>
              <a:t>Feature #5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427024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Time gap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4690872"/>
            <a:ext cx="3383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AF8"/>
                </a:solidFill>
              </a:rPr>
              <a:t>Hours since the previous satellite scan,
divided by 24. Helps handle irregular timing.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D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Feeding Data to the AI — Time Windows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D6EAF8"/>
                </a:solidFill>
              </a:rPr>
              <a:t>The model doesn't look at just one moment. It looks at 8 consecutive satellite scans at a time.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00200"/>
            <a:ext cx="1234440" cy="2286000"/>
          </a:xfrm>
          <a:prstGeom prst="rect">
            <a:avLst/>
          </a:prstGeom>
          <a:solidFill>
            <a:srgbClr val="1E3A5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737360"/>
            <a:ext cx="1143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6EAF8"/>
                </a:solidFill>
              </a:rPr>
              <a:t>Scan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423160"/>
            <a:ext cx="1143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A0B0"/>
                </a:solidFill>
              </a:rPr>
              <a:t>6 features
per node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9344" y="251460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1783080" y="1600200"/>
            <a:ext cx="1234440" cy="2286000"/>
          </a:xfrm>
          <a:prstGeom prst="rect">
            <a:avLst/>
          </a:prstGeom>
          <a:solidFill>
            <a:srgbClr val="1E3A5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1737360"/>
            <a:ext cx="1143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6EAF8"/>
                </a:solidFill>
              </a:rPr>
              <a:t>Scan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423160"/>
            <a:ext cx="1143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A0B0"/>
                </a:solidFill>
              </a:rPr>
              <a:t>6 features
per node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26664" y="251460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600200"/>
            <a:ext cx="1234440" cy="2286000"/>
          </a:xfrm>
          <a:prstGeom prst="rect">
            <a:avLst/>
          </a:prstGeom>
          <a:solidFill>
            <a:srgbClr val="1E3A5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1737360"/>
            <a:ext cx="1143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6EAF8"/>
                </a:solidFill>
              </a:rPr>
              <a:t>Scan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2423160"/>
            <a:ext cx="1143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A0B0"/>
                </a:solidFill>
              </a:rPr>
              <a:t>6 features
per node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3984" y="251460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17720" y="1600200"/>
            <a:ext cx="1234440" cy="2286000"/>
          </a:xfrm>
          <a:prstGeom prst="rect">
            <a:avLst/>
          </a:prstGeom>
          <a:solidFill>
            <a:srgbClr val="1E3A5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1737360"/>
            <a:ext cx="1143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6EAF8"/>
                </a:solidFill>
              </a:rPr>
              <a:t>Scan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423160"/>
            <a:ext cx="1143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A0B0"/>
                </a:solidFill>
              </a:rPr>
              <a:t>6 features
per node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61304" y="251460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1600200"/>
            <a:ext cx="1234440" cy="2286000"/>
          </a:xfrm>
          <a:prstGeom prst="rect">
            <a:avLst/>
          </a:prstGeom>
          <a:solidFill>
            <a:srgbClr val="1E3A5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0760" y="1737360"/>
            <a:ext cx="1143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6EAF8"/>
                </a:solidFill>
              </a:rPr>
              <a:t>Scan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2423160"/>
            <a:ext cx="1143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A0B0"/>
                </a:solidFill>
              </a:rPr>
              <a:t>6 features
per node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78624" y="251460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52360" y="1600200"/>
            <a:ext cx="1234440" cy="2286000"/>
          </a:xfrm>
          <a:prstGeom prst="rect">
            <a:avLst/>
          </a:prstGeom>
          <a:solidFill>
            <a:srgbClr val="1E3A5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0" y="1737360"/>
            <a:ext cx="1143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6EAF8"/>
                </a:solidFill>
              </a:rPr>
              <a:t>Scan 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0" y="2423160"/>
            <a:ext cx="1143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A0B0"/>
                </a:solidFill>
              </a:rPr>
              <a:t>6 features
per node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95944" y="251460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69680" y="1600200"/>
            <a:ext cx="1234440" cy="2286000"/>
          </a:xfrm>
          <a:prstGeom prst="rect">
            <a:avLst/>
          </a:prstGeom>
          <a:solidFill>
            <a:srgbClr val="1E3A5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5400" y="1737360"/>
            <a:ext cx="1143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6EAF8"/>
                </a:solidFill>
              </a:rPr>
              <a:t>Scan 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400" y="2423160"/>
            <a:ext cx="1143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A0B0"/>
                </a:solidFill>
              </a:rPr>
              <a:t>6 features
per node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13264" y="251460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287000" y="1600200"/>
            <a:ext cx="1234440" cy="2286000"/>
          </a:xfrm>
          <a:prstGeom prst="rect">
            <a:avLst/>
          </a:prstGeom>
          <a:solidFill>
            <a:srgbClr val="00B4D8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32720" y="1737360"/>
            <a:ext cx="1143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D52"/>
                </a:solidFill>
              </a:rPr>
              <a:t>Scan 8
(predict here)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20" y="2423160"/>
            <a:ext cx="1143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2D52"/>
                </a:solidFill>
              </a:rPr>
              <a:t>6 features
per node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0233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One window = 8 time steps × all nodes × 6 features   →   AI outputs NO₂ prediction for every ground sensor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709160"/>
            <a:ext cx="3657600" cy="1097280"/>
          </a:xfrm>
          <a:prstGeom prst="rect">
            <a:avLst/>
          </a:prstGeom>
          <a:solidFill>
            <a:srgbClr val="122946"/>
          </a:solidFill>
          <a:ln w="19050">
            <a:solidFill>
              <a:srgbClr val="9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489204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6EAF8"/>
                </a:solidFill>
              </a:rPr>
              <a:t>~1 snapshot/hour
from TEMPO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931920" y="4709160"/>
            <a:ext cx="3657600" cy="1097280"/>
          </a:xfrm>
          <a:prstGeom prst="rect">
            <a:avLst/>
          </a:prstGeom>
          <a:solidFill>
            <a:srgbClr val="122946"/>
          </a:solidFill>
          <a:ln w="19050">
            <a:solidFill>
              <a:srgbClr val="9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69080" y="489204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6EAF8"/>
                </a:solidFill>
              </a:rPr>
              <a:t>AirNow data available
at the same hour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0" y="4709160"/>
            <a:ext cx="3657600" cy="1097280"/>
          </a:xfrm>
          <a:prstGeom prst="rect">
            <a:avLst/>
          </a:prstGeom>
          <a:solidFill>
            <a:srgbClr val="122946"/>
          </a:solidFill>
          <a:ln w="19050">
            <a:solidFill>
              <a:srgbClr val="9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09560" y="489204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6EAF8"/>
                </a:solidFill>
              </a:rPr>
              <a:t>Windows slide forward
one scan at a 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D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How the AI Thinks — Model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606040" cy="3840480"/>
          </a:xfrm>
          <a:prstGeom prst="rect">
            <a:avLst/>
          </a:prstGeom>
          <a:solidFill>
            <a:srgbClr val="1E3A5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</a:rPr>
              <a:t>📥  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240280"/>
            <a:ext cx="2331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6EAF8"/>
                </a:solidFill>
              </a:rPr>
              <a:t>8 time steps
× all nodes
× 6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90672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8C00"/>
                </a:solidFill>
              </a:rPr>
              <a:t>⟶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280160"/>
            <a:ext cx="2606040" cy="3840480"/>
          </a:xfrm>
          <a:prstGeom prst="rect">
            <a:avLst/>
          </a:prstGeom>
          <a:solidFill>
            <a:srgbClr val="1E3A5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41732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</a:rPr>
              <a:t>🔄  Spatial
Layers (×2)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240280"/>
            <a:ext cx="2331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6EAF8"/>
                </a:solidFill>
              </a:rPr>
              <a:t>Passes messages
along graph edges.
Mixes sensor &amp;
satellite info.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71031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8C00"/>
                </a:solidFill>
              </a:rPr>
              <a:t>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2606040" cy="3840480"/>
          </a:xfrm>
          <a:prstGeom prst="rect">
            <a:avLst/>
          </a:prstGeom>
          <a:solidFill>
            <a:srgbClr val="1E3A5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</a:rPr>
              <a:t>⏱  Temporal
Layers (×2)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240280"/>
            <a:ext cx="2331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6EAF8"/>
                </a:solidFill>
              </a:rPr>
              <a:t>Reads the 8-step
sequence in order.
Handles irregular
time gaps.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1392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8C00"/>
                </a:solidFill>
              </a:rPr>
              <a:t>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98280" y="1280160"/>
            <a:ext cx="2606040" cy="3840480"/>
          </a:xfrm>
          <a:prstGeom prst="rect">
            <a:avLst/>
          </a:prstGeom>
          <a:solidFill>
            <a:srgbClr val="1E3A5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41732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</a:rPr>
              <a:t>📤  Output
Head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240280"/>
            <a:ext cx="2331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6EAF8"/>
                </a:solidFill>
              </a:rPr>
              <a:t>One number per
ground sensor:
predicted NO₂
(in ppb)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394960"/>
            <a:ext cx="11274552" cy="1005840"/>
          </a:xfrm>
          <a:prstGeom prst="rect">
            <a:avLst/>
          </a:prstGeom>
          <a:solidFill>
            <a:srgbClr val="122946"/>
          </a:solidFill>
          <a:ln w="19050">
            <a:solidFill>
              <a:srgbClr val="9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5321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8C00"/>
                </a:solidFill>
              </a:rPr>
              <a:t>Internal size:  6 features  →  96 hidden dimensions  →  1 predicted value per station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D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How the Model Learns — Training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51560"/>
            <a:ext cx="5943600" cy="5394960"/>
          </a:xfrm>
          <a:prstGeom prst="rect">
            <a:avLst/>
          </a:prstGeom>
          <a:solidFill>
            <a:srgbClr val="1E3A5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Key Training Settings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• Training period: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60020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AF8"/>
                </a:solidFill>
              </a:rPr>
              <a:t>July 2023 – June 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• Learning rate: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19456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AF8"/>
                </a:solidFill>
              </a:rPr>
              <a:t>0.0003  (how fast it adjusts)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889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• Batch size: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7889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AF8"/>
                </a:solidFill>
              </a:rPr>
              <a:t>32 windows at a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• Epochs: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38328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AF8"/>
                </a:solidFill>
              </a:rPr>
              <a:t>100 passes through all the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977639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• Loss function: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977639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AF8"/>
                </a:solidFill>
              </a:rPr>
              <a:t>Huber loss  (penalises big errors less harshly than MSE)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5720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• Optimiser: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57200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AF8"/>
                </a:solidFill>
              </a:rPr>
              <a:t>AdamW  (standard modern method)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1663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• Gradient clipping: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516636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AF8"/>
                </a:solidFill>
              </a:rPr>
              <a:t>Prevents extreme weight updates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7607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• Mixed precision: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57607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AF8"/>
                </a:solidFill>
              </a:rPr>
              <a:t>bfloat16 — makes training faster on GPU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1051560"/>
            <a:ext cx="5394960" cy="5394960"/>
          </a:xfrm>
          <a:prstGeom prst="rect">
            <a:avLst/>
          </a:prstGeom>
          <a:solidFill>
            <a:srgbClr val="1E3A5F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8C00"/>
                </a:solidFill>
              </a:rPr>
              <a:t>Training Loop (simplified)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16002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AF8"/>
                </a:solidFill>
              </a:rPr>
              <a:t>1. Make a prediction for each sensor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1945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AF8"/>
                </a:solidFill>
              </a:rPr>
              <a:t>2. Compare to real AirNow reading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27889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AF8"/>
                </a:solidFill>
              </a:rPr>
              <a:t>3. Calculate the error (Huber loss)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3832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AF8"/>
                </a:solidFill>
              </a:rPr>
              <a:t>4. Adjust model weights to reduce error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977639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AF8"/>
                </a:solidFill>
              </a:rPr>
              <a:t>5. Repeat for every batch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45720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AF8"/>
                </a:solidFill>
              </a:rPr>
              <a:t>6. After each epoch, check performance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51663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AF8"/>
                </a:solidFill>
              </a:rPr>
              <a:t>7. Save best checkpoint automatically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57607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AF8"/>
                </a:solidFill>
              </a:rPr>
              <a:t>8. Continue for 100 epochs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D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Saving &amp; Using the Trained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51560"/>
            <a:ext cx="5486400" cy="5394960"/>
          </a:xfrm>
          <a:prstGeom prst="rect">
            <a:avLst/>
          </a:prstGeom>
          <a:solidFill>
            <a:srgbClr val="1E3A5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What gets saved?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64208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AF8"/>
                </a:solidFill>
              </a:rPr>
              <a:t>After every epoch: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39696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AF8"/>
                </a:solidFill>
              </a:rPr>
              <a:t>  • last_model.pt  — the most recent weights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15184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8C00"/>
                </a:solidFill>
              </a:rPr>
              <a:t>  • best_model.pt  — best validation 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90672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AF8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6616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AF8"/>
                </a:solidFill>
              </a:rPr>
              <a:t>The checkpoint also stores: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41648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AF8"/>
                </a:solidFill>
              </a:rPr>
              <a:t>  • Model settings (hidden size, layers, etc.)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17136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AF8"/>
                </a:solidFill>
              </a:rPr>
              <a:t>  • Mean &amp; std of AirNow data (for scaling)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992624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AF8"/>
                </a:solidFill>
              </a:rPr>
              <a:t>  • Training history (loss per epoch)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468112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AF8"/>
                </a:solidFill>
              </a:rPr>
              <a:t>  • Epoch number (so training can resume)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051560"/>
            <a:ext cx="5760720" cy="5394960"/>
          </a:xfrm>
          <a:prstGeom prst="rect">
            <a:avLst/>
          </a:prstGeom>
          <a:solidFill>
            <a:srgbClr val="1E3A5F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188720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Running Inference (prediction)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664208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AF8"/>
                </a:solidFill>
              </a:rPr>
              <a:t>Inference period: Jul – Sep 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139696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AF8"/>
                </a:solidFill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615184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AF8"/>
                </a:solidFill>
              </a:rPr>
              <a:t>1. Load saved checkpoint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090672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AF8"/>
                </a:solidFill>
              </a:rPr>
              <a:t>2. Load new TEMPO scans (unseen data)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566160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AF8"/>
                </a:solidFill>
              </a:rPr>
              <a:t>3. Pass through model → get predictions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041648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AF8"/>
                </a:solidFill>
              </a:rPr>
              <a:t>4. Scale back to ppb units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517136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AF8"/>
                </a:solidFill>
              </a:rPr>
              <a:t>5. Write output files: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992624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AF8"/>
                </a:solidFill>
              </a:rPr>
              <a:t>   predictions.csv  (table of results)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5468112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AF8"/>
                </a:solidFill>
              </a:rPr>
              <a:t>   predictions.nc   (NetCDF for GIS use)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D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What We Get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D6EAF8"/>
                </a:solidFill>
              </a:rPr>
              <a:t>For every AirNow station at every hour in the inference window, the model produces: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5577840" cy="1554480"/>
          </a:xfrm>
          <a:prstGeom prst="rect">
            <a:avLst/>
          </a:prstGeom>
          <a:solidFill>
            <a:srgbClr val="1E3A5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📈  Predicted NO₂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39112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AF8"/>
                </a:solidFill>
              </a:rPr>
              <a:t>The model's estimate of NO₂ concentration at that station, in parts per billion (ppb).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508760"/>
            <a:ext cx="5577840" cy="1554480"/>
          </a:xfrm>
          <a:prstGeom prst="rect">
            <a:avLst/>
          </a:prstGeom>
          <a:solidFill>
            <a:srgbClr val="1E3A5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002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📋  Observed NO₂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39112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AF8"/>
                </a:solidFill>
              </a:rPr>
              <a:t>The actual AirNow reading (if available) for comparison.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200400"/>
            <a:ext cx="5577840" cy="1554480"/>
          </a:xfrm>
          <a:prstGeom prst="rect">
            <a:avLst/>
          </a:prstGeom>
          <a:solidFill>
            <a:srgbClr val="1E3A5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2918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📐  Absolute Error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730752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AF8"/>
                </a:solidFill>
              </a:rPr>
              <a:t>How far off the prediction was (|predicted − observed|).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3200400"/>
            <a:ext cx="5577840" cy="1554480"/>
          </a:xfrm>
          <a:prstGeom prst="rect">
            <a:avLst/>
          </a:prstGeom>
          <a:solidFill>
            <a:srgbClr val="1E3A5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2918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🏷️  Station Metadata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30752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AF8"/>
                </a:solidFill>
              </a:rPr>
              <a:t>Site ID, name, agency, latitude, longitude for each sensor.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892040"/>
            <a:ext cx="5577840" cy="1554480"/>
          </a:xfrm>
          <a:prstGeom prst="rect">
            <a:avLst/>
          </a:prstGeom>
          <a:solidFill>
            <a:srgbClr val="1E3A5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983479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⏱  Delta-T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422392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AF8"/>
                </a:solidFill>
              </a:rPr>
              <a:t>How many hours elapsed since the previous satellite scan.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4892040"/>
            <a:ext cx="5577840" cy="1554480"/>
          </a:xfrm>
          <a:prstGeom prst="rect">
            <a:avLst/>
          </a:prstGeom>
          <a:solidFill>
            <a:srgbClr val="1E3A5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983479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📡  Nearest Satellite Distance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5422392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AF8"/>
                </a:solidFill>
              </a:rPr>
              <a:t>Distance from each sensor to its closest TEMPO pixel (km).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D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Key Numbers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280160"/>
            <a:ext cx="2651760" cy="2194560"/>
          </a:xfrm>
          <a:prstGeom prst="rect">
            <a:avLst/>
          </a:prstGeom>
          <a:solidFill>
            <a:srgbClr val="1E3A5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463039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8C0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228600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6EAF8"/>
                </a:solidFill>
              </a:rPr>
              <a:t>Input features
per node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1280160"/>
            <a:ext cx="2651760" cy="2194560"/>
          </a:xfrm>
          <a:prstGeom prst="rect">
            <a:avLst/>
          </a:prstGeom>
          <a:solidFill>
            <a:srgbClr val="1E3A5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1463039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8C00"/>
                </a:solidFill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228600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6EAF8"/>
                </a:solidFill>
              </a:rPr>
              <a:t>Time steps
per window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280160"/>
            <a:ext cx="2651760" cy="2194560"/>
          </a:xfrm>
          <a:prstGeom prst="rect">
            <a:avLst/>
          </a:prstGeom>
          <a:solidFill>
            <a:srgbClr val="1E3A5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463039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8C00"/>
                </a:solidFill>
              </a:rPr>
              <a:t>96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28600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6EAF8"/>
                </a:solidFill>
              </a:rPr>
              <a:t>Hidden size
(internal width)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98280" y="1280160"/>
            <a:ext cx="2651760" cy="2194560"/>
          </a:xfrm>
          <a:prstGeom prst="rect">
            <a:avLst/>
          </a:prstGeom>
          <a:solidFill>
            <a:srgbClr val="1E3A5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9720" y="1463039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8C00"/>
                </a:solidFill>
              </a:rPr>
              <a:t>2 + 2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228600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6EAF8"/>
                </a:solidFill>
              </a:rPr>
              <a:t>Spatial + Temporal
processing layers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749039"/>
            <a:ext cx="2651760" cy="2194560"/>
          </a:xfrm>
          <a:prstGeom prst="rect">
            <a:avLst/>
          </a:prstGeom>
          <a:solidFill>
            <a:srgbClr val="1E3A5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393192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8C00"/>
                </a:solidFill>
              </a:rPr>
              <a:t>~1,000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4754879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6EAF8"/>
                </a:solidFill>
              </a:rPr>
              <a:t>AirNow ground
stations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46120" y="3749039"/>
            <a:ext cx="2651760" cy="2194560"/>
          </a:xfrm>
          <a:prstGeom prst="rect">
            <a:avLst/>
          </a:prstGeom>
          <a:solidFill>
            <a:srgbClr val="1E3A5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37560" y="393192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8C00"/>
                </a:solidFill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4754879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6EAF8"/>
                </a:solidFill>
              </a:rPr>
              <a:t>TEMPO pixels
per station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749039"/>
            <a:ext cx="2651760" cy="2194560"/>
          </a:xfrm>
          <a:prstGeom prst="rect">
            <a:avLst/>
          </a:prstGeom>
          <a:solidFill>
            <a:srgbClr val="1E3A5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393192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8C00"/>
                </a:solidFill>
              </a:rPr>
              <a:t>100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4754879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6EAF8"/>
                </a:solidFill>
              </a:rPr>
              <a:t>Training
epochs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98280" y="3749039"/>
            <a:ext cx="2651760" cy="2194560"/>
          </a:xfrm>
          <a:prstGeom prst="rect">
            <a:avLst/>
          </a:prstGeom>
          <a:solidFill>
            <a:srgbClr val="1E3A5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89720" y="393192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8C00"/>
                </a:solidFill>
              </a:rPr>
              <a:t>0.0003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4754879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6EAF8"/>
                </a:solidFill>
              </a:rPr>
              <a:t>Learning
rate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D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8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0312" cy="6309360"/>
          </a:xfrm>
          <a:prstGeom prst="rect">
            <a:avLst/>
          </a:prstGeom>
          <a:solidFill>
            <a:srgbClr val="1A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5486400" cy="1417320"/>
          </a:xfrm>
          <a:prstGeom prst="rect">
            <a:avLst/>
          </a:prstGeom>
          <a:solidFill>
            <a:srgbClr val="1E3A5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4416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🛰  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AF8"/>
                </a:solidFill>
              </a:rPr>
              <a:t>TEMPO satellite NO₂ columns + AirNow ground sensors.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234440"/>
            <a:ext cx="5486400" cy="1417320"/>
          </a:xfrm>
          <a:prstGeom prst="rect">
            <a:avLst/>
          </a:prstGeom>
          <a:solidFill>
            <a:srgbClr val="1E3A5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34416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🗺   Graph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82880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AF8"/>
                </a:solidFill>
              </a:rPr>
              <a:t>AirNow stations + nearby TEMPO pixels connected into a network.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834640"/>
            <a:ext cx="5486400" cy="1417320"/>
          </a:xfrm>
          <a:prstGeom prst="rect">
            <a:avLst/>
          </a:prstGeom>
          <a:solidFill>
            <a:srgbClr val="1E3A5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4436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🔢 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42900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AF8"/>
                </a:solidFill>
              </a:rPr>
              <a:t>6 numbers per node: satellite value, quality, node type, lat, lon, time gap.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834640"/>
            <a:ext cx="5486400" cy="1417320"/>
          </a:xfrm>
          <a:prstGeom prst="rect">
            <a:avLst/>
          </a:prstGeom>
          <a:solidFill>
            <a:srgbClr val="1E3A5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94436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🧠 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42900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AF8"/>
                </a:solidFill>
              </a:rPr>
              <a:t>GraphMamba — spatial graph layers + temporal sequence layers.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434840"/>
            <a:ext cx="5486400" cy="1417320"/>
          </a:xfrm>
          <a:prstGeom prst="rect">
            <a:avLst/>
          </a:prstGeom>
          <a:solidFill>
            <a:srgbClr val="1E3A5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54456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🎯  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02920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AF8"/>
                </a:solidFill>
              </a:rPr>
              <a:t>Predict hourly NO₂ (ppb) at every AirNow station.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434840"/>
            <a:ext cx="5486400" cy="1417320"/>
          </a:xfrm>
          <a:prstGeom prst="rect">
            <a:avLst/>
          </a:prstGeom>
          <a:solidFill>
            <a:srgbClr val="1E3A5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54456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📦  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02920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AF8"/>
                </a:solidFill>
              </a:rPr>
              <a:t>CSV &amp; NetCDF files with predictions, observations, and errors.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6400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90A0B0"/>
                </a:solidFill>
              </a:rPr>
              <a:t>Questions welcome!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